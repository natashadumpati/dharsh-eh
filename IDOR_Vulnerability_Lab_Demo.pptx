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52E16"/>
                </a:solidFill>
              </a:defRPr>
            </a:pPr>
            <a:r>
              <a:t>IDOR Vulnerability Lab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10B981"/>
                </a:solidFill>
              </a:defRPr>
            </a:pPr>
            <a:r>
              <a:t>Insecure Direct Object Reference - MediVault Demo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52E16"/>
                </a:solidFill>
              </a:defRPr>
            </a:pPr>
            <a:r>
              <a:t>What is IDOR?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• Insecure Direct Object Reference (IDOR) is an access control vulnerability</a:t>
            </a:r>
          </a:p>
          <a:p>
            <a:pPr>
              <a:spcAft>
                <a:spcPts val="1200"/>
              </a:spcAft>
              <a:defRPr sz="1800"/>
            </a:pPr>
            <a:r>
              <a:t>• Occurs when an application exposes a reference to an internal object (file, record, key) in the URL or request</a:t>
            </a:r>
          </a:p>
          <a:p>
            <a:pPr>
              <a:spcAft>
                <a:spcPts val="1200"/>
              </a:spcAft>
              <a:defRPr sz="1800"/>
            </a:pPr>
            <a:r>
              <a:t>• Attackers can manipulate these references to access unauthorized data</a:t>
            </a:r>
          </a:p>
          <a:p>
            <a:pPr>
              <a:spcAft>
                <a:spcPts val="1200"/>
              </a:spcAft>
              <a:defRPr sz="1800"/>
            </a:pPr>
            <a:r>
              <a:t>• OWASP Top 10 - Broken Access Control (A01:2021)</a:t>
            </a:r>
          </a:p>
          <a:p>
            <a:pPr>
              <a:spcAft>
                <a:spcPts val="1200"/>
              </a:spcAft>
              <a:defRPr sz="1800"/>
            </a:pPr>
            <a:r>
              <a:t>• Common in APIs, web apps, and mobile backends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52E16"/>
                </a:solidFill>
              </a:defRPr>
            </a:pPr>
            <a:r>
              <a:t>How IDOR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• Application uses predictable identifiers (IDs) to fetch resources</a:t>
            </a:r>
          </a:p>
          <a:p>
            <a:pPr>
              <a:spcAft>
                <a:spcPts val="1200"/>
              </a:spcAft>
              <a:defRPr sz="1800"/>
            </a:pPr>
            <a:r>
              <a:t>• Example: /api/patient?id=1001 fetches patient 1001's record</a:t>
            </a:r>
          </a:p>
          <a:p>
            <a:pPr>
              <a:spcAft>
                <a:spcPts val="1200"/>
              </a:spcAft>
              <a:defRPr sz="1800"/>
            </a:pPr>
            <a:r>
              <a:t>• No server-side check: Does the logged-in user own this resource?</a:t>
            </a:r>
          </a:p>
          <a:p>
            <a:pPr>
              <a:spcAft>
                <a:spcPts val="1200"/>
              </a:spcAft>
              <a:defRPr sz="1800"/>
            </a:pPr>
            <a:r>
              <a:t>• Attacker changes id=1001 to id=1002 → accesses another user's data</a:t>
            </a:r>
          </a:p>
          <a:p>
            <a:pPr>
              <a:spcAft>
                <a:spcPts val="1200"/>
              </a:spcAft>
              <a:defRPr sz="1800"/>
            </a:pPr>
            <a:r>
              <a:t>• Often combined with: sequential IDs, no authorization checks, exposed APIs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52E16"/>
                </a:solidFill>
              </a:defRPr>
            </a:pPr>
            <a:r>
              <a:t>Impact of IDOR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• Data Breach: Access to PII, medical records, financial data</a:t>
            </a:r>
          </a:p>
          <a:p>
            <a:pPr>
              <a:spcAft>
                <a:spcPts val="1200"/>
              </a:spcAft>
              <a:defRPr sz="1800"/>
            </a:pPr>
            <a:r>
              <a:t>• Privacy Violation: View/modify other users' private information</a:t>
            </a:r>
          </a:p>
          <a:p>
            <a:pPr>
              <a:spcAft>
                <a:spcPts val="1200"/>
              </a:spcAft>
              <a:defRPr sz="1800"/>
            </a:pPr>
            <a:r>
              <a:t>• Compliance Fines: GDPR, HIPAA violations → heavy penalties</a:t>
            </a:r>
          </a:p>
          <a:p>
            <a:pPr>
              <a:spcAft>
                <a:spcPts val="1200"/>
              </a:spcAft>
              <a:defRPr sz="1800"/>
            </a:pPr>
            <a:r>
              <a:t>• Reputation Damage: Loss of trust, legal liability</a:t>
            </a:r>
          </a:p>
          <a:p>
            <a:pPr>
              <a:spcAft>
                <a:spcPts val="1200"/>
              </a:spcAft>
              <a:defRPr sz="1800"/>
            </a:pPr>
            <a:r>
              <a:t>• Escalation: From read-only to full account takeover in some cases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52E16"/>
                </a:solidFill>
              </a:defRPr>
            </a:pPr>
            <a:r>
              <a:t>Real-World IDOR Examples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• Facebook (2013): Access to private photos via user ID manipulation</a:t>
            </a:r>
          </a:p>
          <a:p>
            <a:pPr>
              <a:spcAft>
                <a:spcPts val="1200"/>
              </a:spcAft>
              <a:defRPr sz="1800"/>
            </a:pPr>
            <a:r>
              <a:t>• Uber: Drivers could view other drivers' earnings by changing IDs</a:t>
            </a:r>
          </a:p>
          <a:p>
            <a:pPr>
              <a:spcAft>
                <a:spcPts val="1200"/>
              </a:spcAft>
              <a:defRPr sz="1800"/>
            </a:pPr>
            <a:r>
              <a:t>• Healthcare portals: Patient records exposed via predictable document IDs</a:t>
            </a:r>
          </a:p>
          <a:p>
            <a:pPr>
              <a:spcAft>
                <a:spcPts val="1200"/>
              </a:spcAft>
              <a:defRPr sz="1800"/>
            </a:pPr>
            <a:r>
              <a:t>• Banking apps: Account statements of other users by altering account numbers</a:t>
            </a:r>
          </a:p>
          <a:p>
            <a:pPr>
              <a:spcAft>
                <a:spcPts val="1200"/>
              </a:spcAft>
              <a:defRPr sz="1800"/>
            </a:pPr>
            <a:r>
              <a:t>• Social media: Private messages, DMs accessible by ID enumeration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52E16"/>
                </a:solidFill>
              </a:defRPr>
            </a:pPr>
            <a:r>
              <a:t>Mitigations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• Implement proper authorization: Check if user has permission for requested resource</a:t>
            </a:r>
          </a:p>
          <a:p>
            <a:pPr>
              <a:spcAft>
                <a:spcPts val="1200"/>
              </a:spcAft>
              <a:defRPr sz="1800"/>
            </a:pPr>
            <a:r>
              <a:t>• Use indirect references: Map session tokens to internal IDs (don't expose real IDs)</a:t>
            </a:r>
          </a:p>
          <a:p>
            <a:pPr>
              <a:spcAft>
                <a:spcPts val="1200"/>
              </a:spcAft>
              <a:defRPr sz="1800"/>
            </a:pPr>
            <a:r>
              <a:t>• Apply principle of least privilege: Users only get access to their own data</a:t>
            </a:r>
          </a:p>
          <a:p>
            <a:pPr>
              <a:spcAft>
                <a:spcPts val="1200"/>
              </a:spcAft>
              <a:defRPr sz="1800"/>
            </a:pPr>
            <a:r>
              <a:t>• Validate ownership server-side: Never trust client-supplied IDs alone</a:t>
            </a:r>
          </a:p>
          <a:p>
            <a:pPr>
              <a:spcAft>
                <a:spcPts val="1200"/>
              </a:spcAft>
              <a:defRPr sz="1800"/>
            </a:pPr>
            <a:r>
              <a:t>• Use UUIDs instead of sequential IDs: Harder to enumerate</a:t>
            </a:r>
          </a:p>
          <a:p>
            <a:pPr>
              <a:spcAft>
                <a:spcPts val="1200"/>
              </a:spcAft>
              <a:defRPr sz="1800"/>
            </a:pPr>
            <a:r>
              <a:t>• Audit and test: Regular penetration testing, code reviews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52E16"/>
                </a:solidFill>
              </a:defRPr>
            </a:pPr>
            <a:r>
              <a:t>Lab Demo: MediVault Portal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• MediVault: Simulated healthcare portal with intentional IDOR vulnerability</a:t>
            </a:r>
          </a:p>
          <a:p>
            <a:pPr>
              <a:spcAft>
                <a:spcPts val="1200"/>
              </a:spcAft>
              <a:defRPr sz="1800"/>
            </a:pPr>
            <a:r>
              <a:t>• 10 patient accounts (alice@example.com ... jack@example.com), password: password123</a:t>
            </a:r>
          </a:p>
          <a:p>
            <a:pPr>
              <a:spcAft>
                <a:spcPts val="1200"/>
              </a:spcAft>
              <a:defRPr sz="1800"/>
            </a:pPr>
            <a:r>
              <a:t>• Vulnerable endpoints: ?id= for patient records, ?doc_id= for documents</a:t>
            </a:r>
          </a:p>
          <a:p>
            <a:pPr>
              <a:spcAft>
                <a:spcPts val="1200"/>
              </a:spcAft>
              <a:defRPr sz="1800"/>
            </a:pPr>
            <a:r>
              <a:t>• Demo flow: Login as Alice → change URL id to access Bob's records</a:t>
            </a:r>
          </a:p>
          <a:p>
            <a:pPr>
              <a:spcAft>
                <a:spcPts val="1200"/>
              </a:spcAft>
              <a:defRPr sz="1800"/>
            </a:pPr>
            <a:r>
              <a:t>• Admin easter egg: ?id=1337 reveals system logs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52E16"/>
                </a:solidFill>
              </a:defRPr>
            </a:pPr>
            <a:r>
              <a:t>Demo Step 1: Login to MediVault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4572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Login as alice@example.com / password123</a:t>
            </a:r>
          </a:p>
        </p:txBody>
      </p:sp>
      <p:pic>
        <p:nvPicPr>
          <p:cNvPr id="4" name="Picture 3" descr="01_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560320"/>
            <a:ext cx="11277295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52E16"/>
                </a:solidFill>
              </a:defRPr>
            </a:pPr>
            <a:r>
              <a:t>Demo Step 2: View Own Records (Alice - ID 1001)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4572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Navigate to Medical Records. URL shows ?id=1001 (Alice's ID)</a:t>
            </a:r>
          </a:p>
        </p:txBody>
      </p:sp>
      <p:pic>
        <p:nvPicPr>
          <p:cNvPr id="4" name="Picture 3" descr="02_own_recor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560320"/>
            <a:ext cx="11277295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52E16"/>
                </a:solidFill>
              </a:defRPr>
            </a:pPr>
            <a:r>
              <a:t>Demo Step 3: IDOR Exploit - Change ID in URL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4572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Manually change ?id=1001 to ?id=1002 in address bar → Bob's private data exposed</a:t>
            </a:r>
          </a:p>
        </p:txBody>
      </p:sp>
      <p:pic>
        <p:nvPicPr>
          <p:cNvPr id="4" name="Picture 3" descr="03_idor_explo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560320"/>
            <a:ext cx="11277295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52E16"/>
                </a:solidFill>
              </a:defRPr>
            </a:pPr>
            <a:r>
              <a:t>Demo Step 4: Unauthorized Access Detected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4572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Header shows 'UNAUTHORIZED ACCESS DETECTED' - but data is still displayed (vulnerability)</a:t>
            </a:r>
          </a:p>
        </p:txBody>
      </p:sp>
      <p:pic>
        <p:nvPicPr>
          <p:cNvPr id="4" name="Picture 3" descr="04_unauthorized_ban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560320"/>
            <a:ext cx="11277295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52E16"/>
                </a:solidFill>
              </a:defRPr>
            </a:pPr>
            <a:r>
              <a:t>Demo Step 5: Document IDOR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4572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Change ?doc_id=D-1001-01 to D-1004-01 to view David's clinical documents</a:t>
            </a:r>
          </a:p>
        </p:txBody>
      </p:sp>
      <p:pic>
        <p:nvPicPr>
          <p:cNvPr id="4" name="Picture 3" descr="05_document_id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560320"/>
            <a:ext cx="11277295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52E16"/>
                </a:solidFill>
              </a:defRPr>
            </a:pPr>
            <a: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• IDOR = Exposing internal object references without proper authorization</a:t>
            </a:r>
          </a:p>
          <a:p>
            <a:pPr>
              <a:spcAft>
                <a:spcPts val="1200"/>
              </a:spcAft>
              <a:defRPr sz="1800"/>
            </a:pPr>
            <a:r>
              <a:t>• High impact: Data breach, privacy violations, compliance fines</a:t>
            </a:r>
          </a:p>
          <a:p>
            <a:pPr>
              <a:spcAft>
                <a:spcPts val="1200"/>
              </a:spcAft>
              <a:defRPr sz="1800"/>
            </a:pPr>
            <a:r>
              <a:t>• Mitigate: Server-side authorization, indirect references, UUIDs</a:t>
            </a:r>
          </a:p>
          <a:p>
            <a:pPr>
              <a:spcAft>
                <a:spcPts val="1200"/>
              </a:spcAft>
              <a:defRPr sz="1800"/>
            </a:pPr>
            <a:r>
              <a:t>• MediVault lab demonstrates IDOR in a realistic healthcare context</a:t>
            </a:r>
          </a:p>
          <a:p>
            <a:pPr>
              <a:spcAft>
                <a:spcPts val="1200"/>
              </a:spcAft>
              <a:defRPr sz="1800"/>
            </a:pPr>
            <a:r>
              <a:t>• Always validate: Does this user have permission to access this resource?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52E16"/>
                </a:solidFill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10B981"/>
                </a:solidFill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